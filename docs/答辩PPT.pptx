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开场：一句话说清作品——把宋《营造法式》的斗栱做成可拆可拼可改可造的数字系统。停留 10 秒展示标题与副题。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三个痛点一页带过，重点落在最后一句定位。停顿让评委读完整句话。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这一页给评委建立全貌。四个主展区是递进关系，两个辅助展区（榫卯、抗震）补充深度。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现场必演：点一处构件展示考据卡。回答追问时强调——考据过程纠正过两处初期误引（散斗/齐心斗高度），纠错痕迹留在创作过程记录里。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现场演示拼三件即可——开新手教学保证不卡壳。强调：这是按真实工序设计的玩法，不是点击播放。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这一页是「模拟→数字」的桥梁：证明古人的材分制就是参数化设计。现场拖滑杆从三等切到一等，视觉冲击明显。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榫卯谱时间不够可略讲，一句话带过：六种榫卯的参数化模型，可开合观察咬合。楔钉榫是两步工序（先合体再上销）。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全场最强记忆点。建议流程：先切「刚性连接」开大震让屋面狂甩，再切「斗栱连接」——示波器亮线明显收敛，减震 70% 大字读数。停两秒让评委看清。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终章留 17 秒不干预，让镜头走完。收尾字幕「不用一钉一铆」出现时停顿，再切回总结。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技术页控制在一分钟内。重点两句：①构件几何全部代码生成、零外部素材；②主包 42KB，登录后按需加载三维库。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收尾：人机分工如实说明，强调过程留痕可核验。最后一句金句放慢语速，作为全场结束。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D9A4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D9A4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914400" cy="914400"/>
          </a:xfrm>
          <a:prstGeom prst="rect">
            <a:avLst/>
          </a:prstGeom>
          <a:solidFill>
            <a:srgbClr val="15110D"/>
          </a:solidFill>
          <a:ln w="31750">
            <a:solidFill>
              <a:srgbClr val="B850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3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大木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83080" y="1298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DAMUZUO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CE4D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《大木作》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宋《营造法式》斗栱榫卯数字营造系统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可拆 · 可拼 · 可改 · 可造，让用户亲手参与非遗营造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5074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全国大学生数字媒体科技作品及创意竞赛 · 民族文化，创新表达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440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南昌航空大学科技学院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参赛团队：刘奉淳、陈邦楠、张进超、周涛　　指导教师：段欣妤、陈超　　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为什么做《大木作》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WHY DAMUZUO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斗栱是中国木构建筑的核心，但公众对它的认知正在断层。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453384" cy="1737360"/>
          </a:xfrm>
          <a:prstGeom prst="roundRect">
            <a:avLst>
              <a:gd name="adj" fmla="val 3158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28600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术语艰深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材分制、铺作、卷杀……专业门槛把大众挡在门外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7784" y="2103120"/>
            <a:ext cx="3453384" cy="1737360"/>
          </a:xfrm>
          <a:prstGeom prst="roundRect">
            <a:avLst>
              <a:gd name="adj" fmla="val 3158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2104" y="228600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实物难近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2104" y="2788920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斗栱高悬檐下，博物馆里也只能仰观，更无法上手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6928" y="2103120"/>
            <a:ext cx="3453384" cy="1737360"/>
          </a:xfrm>
          <a:prstGeom prst="roundRect">
            <a:avLst>
              <a:gd name="adj" fmla="val 3158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61248" y="2286000"/>
            <a:ext cx="2904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原理不可见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461248" y="2788920"/>
            <a:ext cx="2904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「斗栱抗震」写在展板上只是一句话，看不见、摸不着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《大木作》的回答：</a:t>
            </a:r>
            <a:pPr indent="0" marL="0">
              <a:buNone/>
            </a:pPr>
            <a:r>
              <a:rPr lang="en-US" sz="24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把形制规则写成算法，让每个人都能亲手拼出一朵斗栱。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8F7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与其把非遗封存起来，不如让人亲手参与。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作品全景 · 六大展区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SIX MODULES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按「认 → 拼 → 改 → 造」的顺序组织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484882" cy="2286000"/>
          </a:xfrm>
          <a:prstGeom prst="roundRect">
            <a:avLst>
              <a:gd name="adj" fmla="val 2400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认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0276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营造学堂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0276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点击构件看考据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每个数字都有出处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79242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17570" y="2011680"/>
            <a:ext cx="2484882" cy="2286000"/>
          </a:xfrm>
          <a:prstGeom prst="roundRect">
            <a:avLst>
              <a:gd name="adj" fmla="val 2400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4617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拼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46170" y="2880360"/>
            <a:ext cx="20276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拼装挑战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46170" y="3337560"/>
            <a:ext cx="20276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按铺作次序拼装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错序会晃动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8172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86500" y="2011680"/>
            <a:ext cx="2484882" cy="2286000"/>
          </a:xfrm>
          <a:prstGeom prst="roundRect">
            <a:avLst>
              <a:gd name="adj" fmla="val 2400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1510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改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15100" y="2880360"/>
            <a:ext cx="20276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参数工坊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5100" y="3337560"/>
            <a:ext cx="20276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材分八等实时重构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换算真实尺寸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17102" y="29260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▸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155430" y="2011680"/>
            <a:ext cx="2484882" cy="2286000"/>
          </a:xfrm>
          <a:prstGeom prst="roundRect">
            <a:avLst>
              <a:gd name="adj" fmla="val 2400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84030" y="21488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A44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造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384030" y="2880360"/>
            <a:ext cx="20276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营造之旅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384030" y="3337560"/>
            <a:ext cx="20276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秒大殿落成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日暮全景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5317236" cy="777240"/>
          </a:xfrm>
          <a:prstGeom prst="roundRect">
            <a:avLst>
              <a:gd name="adj" fmla="val 7059"/>
            </a:avLst>
          </a:prstGeom>
          <a:solidFill>
            <a:srgbClr val="2A221A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09160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榫卯谱 · 六种经典榫卯开合演示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23076" y="4709160"/>
            <a:ext cx="5317236" cy="777240"/>
          </a:xfrm>
          <a:prstGeom prst="roundRect">
            <a:avLst>
              <a:gd name="adj" fmla="val 7059"/>
            </a:avLst>
          </a:prstGeom>
          <a:solidFill>
            <a:srgbClr val="2A221A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3116" y="4709160"/>
            <a:ext cx="46771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斗栱抗震 · 振动台物理对比实验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营造学堂 · 让每个数字都有出处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ACADEMY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766560" cy="38061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47954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▲ 四铺作柱头铺作（材分制算法实时生成）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1691640"/>
            <a:ext cx="4050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考据化交互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89520" y="2148840"/>
            <a:ext cx="4050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点击任意构件，查看它的形制尺寸与文献出处。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界面上出现的每个数字，都能查到出自哪一卷。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0" y="3291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材广 × 厚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326880" y="3291840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× 10 分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89520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足材（材 + 栔）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326880" y="3767328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 分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89520" y="424281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每跳出跳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26880" y="4242816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分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589520" y="47183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栌斗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26880" y="471830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× 32 × 20 分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6291072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《营造法式》卷四·大木作制度（造枓之制 / 造栱之制），对照 ctext.org 与钦定四库全书本核验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拼装挑战 · 把非遗变成可玩的工序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ASSEMBLY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035040" cy="33947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0522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▲ 六铺作重栱造 · 爆炸视图（拆解滑杆 100%）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0" y="1737360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拼装就是学习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0" y="2240280"/>
            <a:ext cx="47823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整朵铺作按《营造法式》的铺作次序拆散。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从构件盘里选出下一件：选对，构件飞回原位，伴随木质「咔哒」声；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选错，构件晃动并计入错误。落成后评定甲 / 乙 / 丙；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登录后成绩自动存档，可挑战更复杂铺作。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0" y="4846320"/>
            <a:ext cx="4782312" cy="1051560"/>
          </a:xfrm>
          <a:prstGeom prst="roundRect">
            <a:avLst>
              <a:gd name="adj" fmla="val 5217"/>
            </a:avLst>
          </a:prstGeom>
          <a:solidFill>
            <a:srgbClr val="2A221A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132320" y="4846320"/>
            <a:ext cx="4233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新手教学：单卡引导 + 下一件构件的角色解释，零基础可通关。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参数工坊 · 800 年前的参数化引擎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WORKSHOP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1636" y="1600200"/>
            <a:ext cx="5394960" cy="30346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31636" y="4708017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▲ 一等材六铺作重栱（通高换算约 410 cm）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「凡构屋之制，皆以材为祖」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21945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材有八等，度屋之大小，因而用之。拖动材等滑杆，同一朵铺作按材等比例缩放，并实时换算真实尺寸（宋尺一尺约 31.2 厘米）。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51206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材广×厚（寸）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9.0 × 6.0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殿身 9–11 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7.5 × 5.0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殿身 3–5 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五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6.6 × 4.4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厅堂 3 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4.5 × 3.0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亭榭 · 藻井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291072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《营造法式》卷四·材分八等；换算按宋尺 1 尺 ≈ 31.2 cm（教学示意）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榫卯谱 · 不用一钉一铆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JOINERY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669280" cy="31889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9948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▲ 抱肩榫：两枋弧口相抱，圆柱落入（开合演示中）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92240" y="1737360"/>
            <a:ext cx="5148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六种经典榫卯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92240" y="2286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燕尾榫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0" y="228600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头大颈小，越拉越紧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2852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格肩榫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63840" y="2852928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45° 斜肩藏住交口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92240" y="34198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抱肩榫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863840" y="3419856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弧口相抱圆材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92240" y="39867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粽角榫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0" y="398678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三材各让一半，交于一点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4553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走马销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863840" y="4553712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推到底自动锁死的活榫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92240" y="5120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楔钉榫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63840" y="512064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弧材互搭 + 楔销锁定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斗栱抗震 · 亲手验证结构原理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SEISMIC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756" y="1554480"/>
            <a:ext cx="5577840" cy="31375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48756" y="4765167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▲ 振动台 + 位移示波器（实测中震 7 级 / 2Hz）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同一场地震，两种连接：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2011680"/>
            <a:ext cx="54086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0.30×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548640" y="2852928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斗栱连接 · 屋面响应衰减至地面 30%（减震 70%）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310128"/>
            <a:ext cx="54086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85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1.33×</a:t>
            </a:r>
            <a:endParaRPr lang="en-US" sz="5400" dirty="0"/>
          </a:p>
        </p:txBody>
      </p:sp>
      <p:sp>
        <p:nvSpPr>
          <p:cNvPr id="11" name="Text 8"/>
          <p:cNvSpPr/>
          <p:nvPr/>
        </p:nvSpPr>
        <p:spPr>
          <a:xfrm>
            <a:off x="548640" y="4151376"/>
            <a:ext cx="5408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刚性连接 · 屋面响应被放大（接近共振）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709160"/>
            <a:ext cx="5408676" cy="1234440"/>
          </a:xfrm>
          <a:prstGeom prst="roundRect">
            <a:avLst>
              <a:gd name="adj" fmla="val 4444"/>
            </a:avLst>
          </a:prstGeom>
          <a:solidFill>
            <a:srgbClr val="2A221A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" y="4709160"/>
            <a:ext cx="48600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物理模型：单自由度受迫振动逐帧积分；斗栱取低自振频率 + 高阻尼（榫卯摩擦耗能），刚性取高频率 + 低阻尼。教学示意模拟，非工程仿真。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291072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数据来源：作品内置模型实测（震级 7 级、频率 2Hz、采样 5 秒）；呼应案例：应县木塔、晋祠圣母殿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营造之旅 · 17 秒，一座大殿的诞生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30861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6771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▲ 檐下成排铺作层层出跳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56048"/>
            <a:ext cx="2468880" cy="13887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6640" y="1691640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程序化大殿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06640" y="2240280"/>
            <a:ext cx="4233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筑台基 → 立柱架阑额 → 施铺作 → 举折成顶 → 日暮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殿上 18 朵铺作、屋架、瓦垄全部算法生成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屋顶按「举高 = 跨 1/3、自上而下渐缓」的举折法则生成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点击画面即可暂停游走、自由环视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406640" y="4892040"/>
            <a:ext cx="4233672" cy="1005840"/>
          </a:xfrm>
          <a:prstGeom prst="roundRect">
            <a:avLst>
              <a:gd name="adj" fmla="val 5455"/>
            </a:avLst>
          </a:prstGeom>
          <a:solidFill>
            <a:srgbClr val="2A221A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680960" y="4892040"/>
            <a:ext cx="3685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日暮灯光随轴线推移：主光转橙红西沉，天幕与雾色渐变，最后收在「不用一钉一铆」。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技术方案 · 从形制数据到可交互场景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675120" cy="786384"/>
          </a:xfrm>
          <a:prstGeom prst="roundRect">
            <a:avLst>
              <a:gd name="adj" fmla="val 6977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形制数据层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06040" y="155448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材分八等 / 构件尺寸 / 铺作次序：每项标注文献卷次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6675120" cy="786384"/>
          </a:xfrm>
          <a:prstGeom prst="roundRect">
            <a:avLst>
              <a:gd name="adj" fmla="val 6977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87168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构件生成层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487168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斗（U 形截面）/ 栱（卷杀轮廓）/ 榫卯（分件装配）：零外部模型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6675120" cy="786384"/>
          </a:xfrm>
          <a:prstGeom prst="roundRect">
            <a:avLst>
              <a:gd name="adj" fmla="val 6977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19856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装配与场景层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06040" y="3419856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铺作参数化生成 / 大殿程序化 / 抗震单自由度物理模型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352544"/>
            <a:ext cx="6675120" cy="786384"/>
          </a:xfrm>
          <a:prstGeom prst="roundRect">
            <a:avLst>
              <a:gd name="adj" fmla="val 6977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352544"/>
            <a:ext cx="1737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交互与资产层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4352544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Three.js + GSAP + Web Audio；木纹瓦垄音效全程序化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1554480"/>
            <a:ext cx="4050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性能分包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103120"/>
          <a:ext cx="4050792" cy="914400"/>
        </p:xfrm>
        <a:graphic>
          <a:graphicData uri="http://schemas.openxmlformats.org/drawingml/2006/table">
            <a:tbl>
              <a:tblPr/>
              <a:tblGrid>
                <a:gridCol w="1701333"/>
                <a:gridCol w="1296253"/>
                <a:gridCol w="105320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分包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主包 + 登录门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73.40 KB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立即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three.js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487.03 KB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登录后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Viewer3D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39.64 KB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CE4D4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登录后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12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913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7589520" y="3703320"/>
            <a:ext cx="4050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gzip 后主包仅 27.46 KB；首屏零图片请求（纹理全部运行时生成）；移动端自动降档。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291072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数据来源：vite build 产物实测（2026-10）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348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创作方法 · 团队协作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348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C8F7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43032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A31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271516" cy="2514600"/>
          </a:xfrm>
          <a:prstGeom prst="roundRect">
            <a:avLst>
              <a:gd name="adj" fmla="val 2182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503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团队职责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选题立意与方向决策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典籍考据与形制审校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构件复核与现场答辩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566160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价值判断与表达取舍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68796" y="1554480"/>
            <a:ext cx="5271516" cy="2514600"/>
          </a:xfrm>
          <a:prstGeom prst="roundRect">
            <a:avLst>
              <a:gd name="adj" fmla="val 2182"/>
            </a:avLst>
          </a:prstGeom>
          <a:solidFill>
            <a:srgbClr val="1F1913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88836" y="173736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技术工具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88836" y="2331720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代码工程与算法实现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88836" y="2743200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文献检索与数据校核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88836" y="3154680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文档起草与资料整理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88836" y="3566160"/>
            <a:ext cx="46314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测试验证与缺陷定位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34340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2A221A"/>
          </a:solidFill>
          <a:ln w="12700">
            <a:solidFill>
              <a:srgbClr val="3A3129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34340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4D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过程全程留痕：《AI协作过程记录》逐日保存技术决策、考据来源与问题修复，如实记录工具参与范围，可现场调阅。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A441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「以材为祖。」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CE4D4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这套模数思想撑起了宋代殿宇的形制，也是《大木作》算法的起点。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《大木作》— 宋《营造法式》斗栱榫卯数字营造系统</dc:title>
  <dc:subject>PptxGenJS Presentation</dc:subject>
  <dc:creator>《大木作》团队</dc:creator>
  <cp:lastModifiedBy>《大木作》团队</cp:lastModifiedBy>
  <cp:revision>1</cp:revision>
  <dcterms:created xsi:type="dcterms:W3CDTF">2026-09-27T12:13:41Z</dcterms:created>
  <dcterms:modified xsi:type="dcterms:W3CDTF">2026-09-27T12:13:41Z</dcterms:modified>
</cp:coreProperties>
</file>